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Merriweather" panose="00000500000000000000" pitchFamily="2" charset="-52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142732"/>
            <a:ext cx="11430000" cy="52476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661167"/>
            <a:ext cx="11049000" cy="28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КОМПЛЕКСНИЙ КУРСОВИЙ ПРОЄКТ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304941"/>
            <a:ext cx="11601450" cy="2742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Вебсервіс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формування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аналітики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музичних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уподобань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користувачів</a:t>
            </a:r>
            <a:endParaRPr sz="160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619125" y="6314182"/>
            <a:ext cx="10953750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Харківський національний університет радіоелектроніки, Кафедра програмної інженерії, 2026 р.</a:t>
            </a:r>
            <a:endParaRPr sz="160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550717"/>
            <a:ext cx="2454771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Здобувач: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970710"/>
            <a:ext cx="2747772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Нікіта</a:t>
            </a:r>
            <a:r>
              <a:rPr lang="en-US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Ш</a:t>
            </a:r>
            <a:r>
              <a:rPr lang="uk-UA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евчук</a:t>
            </a:r>
            <a:r>
              <a:rPr lang="en-US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гр</a:t>
            </a:r>
            <a:r>
              <a:rPr lang="en-US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 ПЗПІ-23-1</a:t>
            </a:r>
            <a:endParaRPr sz="160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9171384" y="4550717"/>
            <a:ext cx="2449115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Керівник:</a:t>
            </a:r>
            <a:endParaRPr sz="1600"/>
          </a:p>
        </p:txBody>
      </p:sp>
      <p:sp>
        <p:nvSpPr>
          <p:cNvPr id="91" name="Google Shape;91;p13"/>
          <p:cNvSpPr txBox="1"/>
          <p:nvPr/>
        </p:nvSpPr>
        <p:spPr>
          <a:xfrm>
            <a:off x="8595360" y="4970710"/>
            <a:ext cx="3025139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доц</a:t>
            </a:r>
            <a:r>
              <a:rPr lang="en-US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каф</a:t>
            </a:r>
            <a:r>
              <a:rPr lang="en-US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 ПІ </a:t>
            </a:r>
            <a:r>
              <a:rPr lang="en-US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Ілона</a:t>
            </a:r>
            <a:r>
              <a:rPr lang="en-US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РЕВЕНЧУК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5932289"/>
            <a:ext cx="11430000" cy="73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28651"/>
            <a:ext cx="5334000" cy="324653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381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Аналіз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предметної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галузі</a:t>
            </a:r>
            <a:endParaRPr sz="1600" dirty="0"/>
          </a:p>
        </p:txBody>
      </p:sp>
      <p:sp>
        <p:nvSpPr>
          <p:cNvPr id="99" name="Google Shape;99;p14"/>
          <p:cNvSpPr/>
          <p:nvPr/>
        </p:nvSpPr>
        <p:spPr>
          <a:xfrm>
            <a:off x="571500" y="3810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19125" y="6103739"/>
            <a:ext cx="10953750" cy="25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Головним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об’єктом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аналізу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є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персональна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бібліотека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користувача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як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набір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альтернатив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подальшої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обробки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ранжування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430720" y="1594546"/>
            <a:ext cx="5334000" cy="140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Предметною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галуззю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проєкту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є </a:t>
            </a:r>
            <a:r>
              <a:rPr lang="en-US" sz="1575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музична</a:t>
            </a:r>
            <a:r>
              <a:rPr lang="en-US" sz="1575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аналітика</a:t>
            </a:r>
            <a:r>
              <a:rPr lang="en-US" sz="1575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—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сфера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що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поєднує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собі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обробку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великих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масивів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даних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інженерію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ПЗ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виявлення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закономірностей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у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споживанні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аудіоконтенту</a:t>
            </a: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838176"/>
            <a:ext cx="5314950" cy="322748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58343" y="4290707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8820" y="4168000"/>
            <a:ext cx="521970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Метадані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Назва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треку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виконавець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альбом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sz="16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458343" y="4580624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77393" y="4496506"/>
            <a:ext cx="525780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Метрики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залученості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Кількість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глобальних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слухачів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sz="1600"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458343" y="4870541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77393" y="4782256"/>
            <a:ext cx="495300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Жанрова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таксономія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Складна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ієрархія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стилів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142732"/>
            <a:ext cx="11430000" cy="524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0810"/>
            <a:ext cx="5429250" cy="212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960810"/>
            <a:ext cx="5429250" cy="2127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381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Аналіз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аналогів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та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вирішення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проблем</a:t>
            </a:r>
            <a:endParaRPr sz="1600" dirty="0"/>
          </a:p>
        </p:txBody>
      </p:sp>
      <p:sp>
        <p:nvSpPr>
          <p:cNvPr id="117" name="Google Shape;117;p15"/>
          <p:cNvSpPr/>
          <p:nvPr/>
        </p:nvSpPr>
        <p:spPr>
          <a:xfrm>
            <a:off x="571500" y="3810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373612"/>
            <a:ext cx="11049000" cy="57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1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«MusicAnalytics System» пропонує консолідацію даних через інтеграцію декількох джерел та алгоритм фільтрації за показником глобальної популярності.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19125" y="6314182"/>
            <a:ext cx="10953750" cy="25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Система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вирішує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проблему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фрагментації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даних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комерційної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упередженості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алгоритмів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до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мейнстріму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2198935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Spotify Wrapped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2741860"/>
            <a:ext cx="4953000" cy="86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Проблема: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Надається лише один раз на рік, що не дозволяє відстежувати зміни вподобань у реальному часі.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429375" y="2198935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Last.fm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29375" y="2741860"/>
            <a:ext cx="4953000" cy="86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Проблема: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Застарілий інтерфейс. Сервіс показує, що ви слухали, але не допомагає аналізувати «андеграундність».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5932289"/>
            <a:ext cx="11430000" cy="73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62050"/>
            <a:ext cx="11049000" cy="457973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62000" y="381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Постановка задачі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3810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19125" y="6103739"/>
            <a:ext cx="10953750" cy="25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Об’єктом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розробки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є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програмна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система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«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MusicAnalytics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System»,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призначена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автоматизації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збору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інтелектуального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аналізу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статистики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952500" y="1647825"/>
            <a:ext cx="10382250" cy="57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Метою</a:t>
            </a: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курсового проєкту є розробка вебсервісу формування аналітики музичних уподобань користувачів, що базується на інтеграції з зовнішніми сервісами Spotify та Last.fm.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257300" y="2429827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333500" y="2427684"/>
            <a:ext cx="10001250" cy="28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Складання специфікації ПЗ (SRS) згідно зі стандартом IEEE 830-1993;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57300" y="2719744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333500" y="2717601"/>
            <a:ext cx="10001250" cy="28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Проєктування асинхронної архітектури та реляційної структури БД;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257300" y="3009661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333500" y="3007518"/>
            <a:ext cx="10001250" cy="28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Реалізація бізнес-логіки формування аналітичних зрізів;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257300" y="3299579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333500" y="3297435"/>
            <a:ext cx="10001250" cy="28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Створення інтерактивного веб-інтерфейсу (Dashboard).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142732"/>
            <a:ext cx="11430000" cy="52476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62000" y="381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Архітектура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ПЗ</a:t>
            </a:r>
            <a:endParaRPr sz="1600" dirty="0"/>
          </a:p>
        </p:txBody>
      </p:sp>
      <p:sp>
        <p:nvSpPr>
          <p:cNvPr id="149" name="Google Shape;149;p17"/>
          <p:cNvSpPr/>
          <p:nvPr/>
        </p:nvSpPr>
        <p:spPr>
          <a:xfrm>
            <a:off x="571500" y="3810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15520" y="6272381"/>
            <a:ext cx="10953750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Використання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FastAPI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забезпечує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високу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швидкість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обробки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запитів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до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зовнішніх</a:t>
            </a:r>
            <a:r>
              <a:rPr lang="en-US" sz="1275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REST Endpoints.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6238875" y="1853897"/>
            <a:ext cx="5334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системи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обрано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багаторівневу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клієнт-серверн</a:t>
            </a:r>
            <a:r>
              <a:rPr lang="uk-UA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у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архітектуру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з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наступними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патернами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00"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6192395" y="2934477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6296027" y="2831494"/>
            <a:ext cx="4953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Асинхронний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патерн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запобігає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блокуванню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потоків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при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великих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обсягах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даних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sz="1600"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6183632" y="365235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6305552" y="3516919"/>
            <a:ext cx="4953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Патерн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репозиторію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відокремлення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логіки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доступу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від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бізнес-логіки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sz="1600"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6183632" y="4329930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6267452" y="4258659"/>
            <a:ext cx="4953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Веб-орієнтований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стиль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використання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REST API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зв'язку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компонентів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A0838A-649F-ABCF-781A-8856549E7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00" y="1364122"/>
            <a:ext cx="5443855" cy="37122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13C163-EF76-55C0-EE10-E1003986AADB}"/>
              </a:ext>
            </a:extLst>
          </p:cNvPr>
          <p:cNvSpPr txBox="1"/>
          <p:nvPr/>
        </p:nvSpPr>
        <p:spPr>
          <a:xfrm>
            <a:off x="2005584" y="5175970"/>
            <a:ext cx="2246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Діаграма компонентів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142732"/>
            <a:ext cx="11430000" cy="52476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381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Проектування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Структура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зберігання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даних</a:t>
            </a:r>
            <a:endParaRPr sz="1600" dirty="0"/>
          </a:p>
        </p:txBody>
      </p:sp>
      <p:sp>
        <p:nvSpPr>
          <p:cNvPr id="166" name="Google Shape;166;p18"/>
          <p:cNvSpPr/>
          <p:nvPr/>
        </p:nvSpPr>
        <p:spPr>
          <a:xfrm>
            <a:off x="571500" y="3810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619125" y="6314182"/>
            <a:ext cx="10953750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Зв’язок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Many-to-Many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реалізовано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через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проміжну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таблицю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1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user_tracks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детального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аналізу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активності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1881014"/>
            <a:ext cx="5334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Логічна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модель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розроблена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так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щоб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мінімізувати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надмірність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даних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відповідність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3NF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).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Основні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сутності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00"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2681295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171" name="Google Shape;171;p18"/>
          <p:cNvSpPr txBox="1"/>
          <p:nvPr/>
        </p:nvSpPr>
        <p:spPr>
          <a:xfrm>
            <a:off x="838200" y="2679152"/>
            <a:ext cx="495300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Users: дані профілів та токени авторизації;</a:t>
            </a:r>
            <a:endParaRPr sz="1600"/>
          </a:p>
        </p:txBody>
      </p:sp>
      <p:sp>
        <p:nvSpPr>
          <p:cNvPr id="172" name="Google Shape;172;p18"/>
          <p:cNvSpPr txBox="1"/>
          <p:nvPr/>
        </p:nvSpPr>
        <p:spPr>
          <a:xfrm>
            <a:off x="757237" y="3055328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838200" y="3003441"/>
            <a:ext cx="4953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Tracks: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каталог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композицій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з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метаданими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кількістю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слухачів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sz="1600"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757237" y="3717483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838200" y="3684751"/>
            <a:ext cx="4953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UserTracks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історія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прослуховувань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з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міткою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часу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played_at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898EC-D395-BEB8-9EA0-150A054E7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344" y="1106647"/>
            <a:ext cx="4242276" cy="4644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AFDE53-B464-6542-5680-54700ACDC48C}"/>
              </a:ext>
            </a:extLst>
          </p:cNvPr>
          <p:cNvSpPr txBox="1"/>
          <p:nvPr/>
        </p:nvSpPr>
        <p:spPr>
          <a:xfrm>
            <a:off x="8202168" y="5734283"/>
            <a:ext cx="3772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Діаграма структури даних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142732"/>
            <a:ext cx="11430000" cy="524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342828"/>
            <a:ext cx="53340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762000" y="381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Проектування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Алгоритм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аналізу</a:t>
            </a:r>
            <a:endParaRPr sz="1600" dirty="0"/>
          </a:p>
        </p:txBody>
      </p:sp>
      <p:sp>
        <p:nvSpPr>
          <p:cNvPr id="183" name="Google Shape;183;p19"/>
          <p:cNvSpPr/>
          <p:nvPr/>
        </p:nvSpPr>
        <p:spPr>
          <a:xfrm>
            <a:off x="571500" y="3810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619125" y="6314182"/>
            <a:ext cx="10953750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Процес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аналізу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починається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після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асинхронної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синхронізації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метаданих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статистики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прослуховувань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6286500" y="2020044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Underground Score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286500" y="2562969"/>
            <a:ext cx="5334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Алгоритм базується на обробці нормалізованих значень популярності. Ключовий метод фільтрації:</a:t>
            </a:r>
            <a:endParaRPr sz="1600"/>
          </a:p>
        </p:txBody>
      </p:sp>
      <p:sp>
        <p:nvSpPr>
          <p:cNvPr id="188" name="Google Shape;188;p19"/>
          <p:cNvSpPr txBox="1"/>
          <p:nvPr/>
        </p:nvSpPr>
        <p:spPr>
          <a:xfrm>
            <a:off x="6286500" y="4314378"/>
            <a:ext cx="5334000" cy="107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Це дозволяє ідентифікувати композиції, які мають низьке охоплення у світі, але є значущими для користувача.</a:t>
            </a:r>
            <a:endParaRPr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C6D948-E5C6-6C44-245C-1D352EE72A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096783"/>
            <a:ext cx="4599432" cy="4828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142732"/>
            <a:ext cx="11430000" cy="524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1386"/>
            <a:ext cx="2619375" cy="2551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2281386"/>
            <a:ext cx="2619375" cy="2551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281386"/>
            <a:ext cx="2619375" cy="2551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1125" y="2281386"/>
            <a:ext cx="2619375" cy="255150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762000" y="381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Засоби розробки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3810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19125" y="6314182"/>
            <a:ext cx="10953750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Вибір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технологій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обумовлений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вбудованою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підтримкою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асинхронності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швидкістю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розробки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8775" y="2519511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756046" y="3233886"/>
            <a:ext cx="22502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3.12</a:t>
            </a:r>
            <a:endParaRPr sz="1600"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809625" y="3776811"/>
            <a:ext cx="2143125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Основна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мова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програмування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pic>
        <p:nvPicPr>
          <p:cNvPr id="204" name="Google Shape;20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38650" y="2519511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3565921" y="3233886"/>
            <a:ext cx="22502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FastAPI</a:t>
            </a:r>
            <a:endParaRPr sz="1600"/>
          </a:p>
        </p:txBody>
      </p:sp>
      <p:sp>
        <p:nvSpPr>
          <p:cNvPr id="206" name="Google Shape;206;p20"/>
          <p:cNvSpPr txBox="1"/>
          <p:nvPr/>
        </p:nvSpPr>
        <p:spPr>
          <a:xfrm>
            <a:off x="3619500" y="3776811"/>
            <a:ext cx="2143125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Асинхронний вебфреймворк.</a:t>
            </a:r>
            <a:endParaRPr sz="1600"/>
          </a:p>
        </p:txBody>
      </p:sp>
      <p:pic>
        <p:nvPicPr>
          <p:cNvPr id="207" name="Google Shape;20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48525" y="2519511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6375796" y="3233886"/>
            <a:ext cx="22502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PostgreSQL</a:t>
            </a:r>
            <a:endParaRPr sz="1600"/>
          </a:p>
        </p:txBody>
      </p:sp>
      <p:sp>
        <p:nvSpPr>
          <p:cNvPr id="209" name="Google Shape;209;p20"/>
          <p:cNvSpPr txBox="1"/>
          <p:nvPr/>
        </p:nvSpPr>
        <p:spPr>
          <a:xfrm>
            <a:off x="6429375" y="3776811"/>
            <a:ext cx="2143125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СУБД для Big Data статистики.</a:t>
            </a:r>
            <a:endParaRPr sz="1600"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53625" y="2519511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9185671" y="3233886"/>
            <a:ext cx="22502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SQLAlchemy</a:t>
            </a:r>
            <a:endParaRPr sz="1600"/>
          </a:p>
        </p:txBody>
      </p:sp>
      <p:sp>
        <p:nvSpPr>
          <p:cNvPr id="212" name="Google Shape;212;p20"/>
          <p:cNvSpPr txBox="1"/>
          <p:nvPr/>
        </p:nvSpPr>
        <p:spPr>
          <a:xfrm>
            <a:off x="9239250" y="3776811"/>
            <a:ext cx="2143125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ORM для взаємодії з даними.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142732"/>
            <a:ext cx="11430000" cy="52476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762000" y="381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Екранні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форми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Аналітичний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Dashboard</a:t>
            </a:r>
            <a:endParaRPr sz="1600" dirty="0"/>
          </a:p>
        </p:txBody>
      </p:sp>
      <p:sp>
        <p:nvSpPr>
          <p:cNvPr id="220" name="Google Shape;220;p21"/>
          <p:cNvSpPr/>
          <p:nvPr/>
        </p:nvSpPr>
        <p:spPr>
          <a:xfrm>
            <a:off x="571500" y="3810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19125" y="6314182"/>
            <a:ext cx="10953750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Дизайн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базується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концепції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Dashboard у «Dark Mode»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зменшення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зорового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навантаження</a:t>
            </a:r>
            <a:r>
              <a:rPr lang="en-US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sp>
        <p:nvSpPr>
          <p:cNvPr id="223" name="Google Shape;223;p21"/>
          <p:cNvSpPr txBox="1"/>
          <p:nvPr/>
        </p:nvSpPr>
        <p:spPr>
          <a:xfrm>
            <a:off x="6591300" y="1765632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Функціональні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зони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 sz="1600" dirty="0"/>
          </a:p>
        </p:txBody>
      </p:sp>
      <p:sp>
        <p:nvSpPr>
          <p:cNvPr id="224" name="Google Shape;224;p21"/>
          <p:cNvSpPr txBox="1"/>
          <p:nvPr/>
        </p:nvSpPr>
        <p:spPr>
          <a:xfrm>
            <a:off x="6582156" y="2463028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225" name="Google Shape;225;p21"/>
          <p:cNvSpPr txBox="1"/>
          <p:nvPr/>
        </p:nvSpPr>
        <p:spPr>
          <a:xfrm>
            <a:off x="6658356" y="2384785"/>
            <a:ext cx="495300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Панель керування: вибір часових зрізів аналітики;</a:t>
            </a:r>
            <a:endParaRPr sz="1600"/>
          </a:p>
        </p:txBody>
      </p:sp>
      <p:sp>
        <p:nvSpPr>
          <p:cNvPr id="226" name="Google Shape;226;p21"/>
          <p:cNvSpPr txBox="1"/>
          <p:nvPr/>
        </p:nvSpPr>
        <p:spPr>
          <a:xfrm>
            <a:off x="6582156" y="2752945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227" name="Google Shape;227;p21"/>
          <p:cNvSpPr txBox="1"/>
          <p:nvPr/>
        </p:nvSpPr>
        <p:spPr>
          <a:xfrm>
            <a:off x="6658356" y="2674703"/>
            <a:ext cx="495300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Хмара жанрів: візуалізація частоти тегів;</a:t>
            </a:r>
            <a:endParaRPr sz="1600"/>
          </a:p>
        </p:txBody>
      </p:sp>
      <p:sp>
        <p:nvSpPr>
          <p:cNvPr id="228" name="Google Shape;228;p21"/>
          <p:cNvSpPr txBox="1"/>
          <p:nvPr/>
        </p:nvSpPr>
        <p:spPr>
          <a:xfrm>
            <a:off x="6582156" y="3042862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229" name="Google Shape;229;p21"/>
          <p:cNvSpPr txBox="1"/>
          <p:nvPr/>
        </p:nvSpPr>
        <p:spPr>
          <a:xfrm>
            <a:off x="6658356" y="2970189"/>
            <a:ext cx="4953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Top Underground: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композиції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з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аудиторією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&lt; 50к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осіб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sz="1600" dirty="0"/>
          </a:p>
        </p:txBody>
      </p:sp>
      <p:sp>
        <p:nvSpPr>
          <p:cNvPr id="230" name="Google Shape;230;p21"/>
          <p:cNvSpPr txBox="1"/>
          <p:nvPr/>
        </p:nvSpPr>
        <p:spPr>
          <a:xfrm>
            <a:off x="6582156" y="3758694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 dirty="0"/>
          </a:p>
        </p:txBody>
      </p:sp>
      <p:sp>
        <p:nvSpPr>
          <p:cNvPr id="231" name="Google Shape;231;p21"/>
          <p:cNvSpPr txBox="1"/>
          <p:nvPr/>
        </p:nvSpPr>
        <p:spPr>
          <a:xfrm>
            <a:off x="6658356" y="3694737"/>
            <a:ext cx="495300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Глобальні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гіганти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контекстне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порівняння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з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мейнстрімом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B6BCE-3AFD-4176-14D5-4CDB3CD0A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18433"/>
            <a:ext cx="5334000" cy="4323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142732"/>
            <a:ext cx="11430000" cy="524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14425"/>
            <a:ext cx="11049000" cy="479018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762000" y="381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Аналіз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отриманих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результатів</a:t>
            </a:r>
            <a:endParaRPr sz="1600" b="1" dirty="0"/>
          </a:p>
        </p:txBody>
      </p:sp>
      <p:sp>
        <p:nvSpPr>
          <p:cNvPr id="239" name="Google Shape;239;p22"/>
          <p:cNvSpPr/>
          <p:nvPr/>
        </p:nvSpPr>
        <p:spPr>
          <a:xfrm>
            <a:off x="571500" y="3810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619125" y="6314182"/>
            <a:ext cx="10953750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Аналіз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показав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що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всі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пріоритетні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задачі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було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успішно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вирішено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, а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мета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ККП —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досягнута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повністю</a:t>
            </a:r>
            <a:r>
              <a:rPr lang="en-US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sp>
        <p:nvSpPr>
          <p:cNvPr id="241" name="Google Shape;241;p22"/>
          <p:cNvSpPr txBox="1"/>
          <p:nvPr/>
        </p:nvSpPr>
        <p:spPr>
          <a:xfrm>
            <a:off x="809625" y="1600200"/>
            <a:ext cx="1057275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Якість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розробленого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ПЗ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оцінювалася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критеріями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00" dirty="0"/>
          </a:p>
        </p:txBody>
      </p:sp>
      <p:sp>
        <p:nvSpPr>
          <p:cNvPr id="242" name="Google Shape;242;p22"/>
          <p:cNvSpPr txBox="1"/>
          <p:nvPr/>
        </p:nvSpPr>
        <p:spPr>
          <a:xfrm>
            <a:off x="1114425" y="2092285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243" name="Google Shape;243;p22"/>
          <p:cNvSpPr txBox="1"/>
          <p:nvPr/>
        </p:nvSpPr>
        <p:spPr>
          <a:xfrm>
            <a:off x="1190625" y="2042517"/>
            <a:ext cx="1019175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Продуктивність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синхронізація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200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треків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займає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менше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5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секунд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завдяки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httpx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sz="1600" dirty="0"/>
          </a:p>
        </p:txBody>
      </p:sp>
      <p:sp>
        <p:nvSpPr>
          <p:cNvPr id="244" name="Google Shape;244;p22"/>
          <p:cNvSpPr txBox="1"/>
          <p:nvPr/>
        </p:nvSpPr>
        <p:spPr>
          <a:xfrm>
            <a:off x="1114425" y="2382202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245" name="Google Shape;245;p22"/>
          <p:cNvSpPr txBox="1"/>
          <p:nvPr/>
        </p:nvSpPr>
        <p:spPr>
          <a:xfrm>
            <a:off x="1190625" y="2380059"/>
            <a:ext cx="1019175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Надійність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механізм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UPSERT (On Conflict Do Update)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виключає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дублювання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записів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sz="1600" dirty="0"/>
          </a:p>
        </p:txBody>
      </p:sp>
      <p:sp>
        <p:nvSpPr>
          <p:cNvPr id="246" name="Google Shape;246;p22"/>
          <p:cNvSpPr txBox="1"/>
          <p:nvPr/>
        </p:nvSpPr>
        <p:spPr>
          <a:xfrm>
            <a:off x="1114425" y="2672119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247" name="Google Shape;247;p22"/>
          <p:cNvSpPr txBox="1"/>
          <p:nvPr/>
        </p:nvSpPr>
        <p:spPr>
          <a:xfrm>
            <a:off x="1190625" y="2669976"/>
            <a:ext cx="10191750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UI/UX: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чітке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зонування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кольорове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кодування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зелений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фіолетовий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забезпечують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швидке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зчитування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даних</a:t>
            </a:r>
            <a:r>
              <a:rPr lang="en-US" sz="16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/>
        </p:nvSpPr>
        <p:spPr>
          <a:xfrm>
            <a:off x="762000" y="381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Висновки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571500" y="3810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571500" y="2719762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258" name="Google Shape;258;p23"/>
          <p:cNvSpPr txBox="1"/>
          <p:nvPr/>
        </p:nvSpPr>
        <p:spPr>
          <a:xfrm>
            <a:off x="647700" y="2717619"/>
            <a:ext cx="990600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Створено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завершене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програмне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рішення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глибокої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аналітики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музичної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статистики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sz="1600" dirty="0"/>
          </a:p>
        </p:txBody>
      </p:sp>
      <p:sp>
        <p:nvSpPr>
          <p:cNvPr id="259" name="Google Shape;259;p23"/>
          <p:cNvSpPr txBox="1"/>
          <p:nvPr/>
        </p:nvSpPr>
        <p:spPr>
          <a:xfrm>
            <a:off x="571500" y="3009679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260" name="Google Shape;260;p23"/>
          <p:cNvSpPr txBox="1"/>
          <p:nvPr/>
        </p:nvSpPr>
        <p:spPr>
          <a:xfrm>
            <a:off x="647700" y="3007536"/>
            <a:ext cx="990600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Впроваджено асинхронну архітектуру для роботи з Big Data без затримок;</a:t>
            </a:r>
            <a:endParaRPr sz="1600"/>
          </a:p>
        </p:txBody>
      </p:sp>
      <p:sp>
        <p:nvSpPr>
          <p:cNvPr id="261" name="Google Shape;261;p23"/>
          <p:cNvSpPr txBox="1"/>
          <p:nvPr/>
        </p:nvSpPr>
        <p:spPr>
          <a:xfrm>
            <a:off x="571500" y="3299596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262" name="Google Shape;262;p23"/>
          <p:cNvSpPr txBox="1"/>
          <p:nvPr/>
        </p:nvSpPr>
        <p:spPr>
          <a:xfrm>
            <a:off x="647700" y="3297453"/>
            <a:ext cx="990600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Розроблено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унікальний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алгоритм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кількісної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оцінки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музичного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смаку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(Underground Score);</a:t>
            </a:r>
            <a:endParaRPr sz="1600" dirty="0"/>
          </a:p>
        </p:txBody>
      </p:sp>
      <p:sp>
        <p:nvSpPr>
          <p:cNvPr id="263" name="Google Shape;263;p23"/>
          <p:cNvSpPr txBox="1"/>
          <p:nvPr/>
        </p:nvSpPr>
        <p:spPr>
          <a:xfrm>
            <a:off x="571500" y="3589513"/>
            <a:ext cx="76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600"/>
          </a:p>
        </p:txBody>
      </p:sp>
      <p:sp>
        <p:nvSpPr>
          <p:cNvPr id="264" name="Google Shape;264;p23"/>
          <p:cNvSpPr txBox="1"/>
          <p:nvPr/>
        </p:nvSpPr>
        <p:spPr>
          <a:xfrm>
            <a:off x="647700" y="3587370"/>
            <a:ext cx="9906000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Проєкт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має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потенціал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комерційного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масштабування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інтеграції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з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новими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джерелами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669</Words>
  <Application>Microsoft Office PowerPoint</Application>
  <PresentationFormat>Widescreen</PresentationFormat>
  <Paragraphs>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Merriweather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Limoncello6 2</cp:lastModifiedBy>
  <cp:revision>5</cp:revision>
  <dcterms:modified xsi:type="dcterms:W3CDTF">2026-05-29T13:38:30Z</dcterms:modified>
</cp:coreProperties>
</file>